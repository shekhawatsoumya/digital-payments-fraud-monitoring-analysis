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khawatsoumya2@gmail.com" userId="870cf11c5f67087a" providerId="LiveId" clId="{339D5A61-6469-4D78-BDA0-4175D12DC9FE}"/>
    <pc:docChg chg="undo custSel delSld modSld">
      <pc:chgData name="shekhawatsoumya2@gmail.com" userId="870cf11c5f67087a" providerId="LiveId" clId="{339D5A61-6469-4D78-BDA0-4175D12DC9FE}" dt="2026-03-19T11:55:27.440" v="53" actId="478"/>
      <pc:docMkLst>
        <pc:docMk/>
      </pc:docMkLst>
      <pc:sldChg chg="delSp modSp mod">
        <pc:chgData name="shekhawatsoumya2@gmail.com" userId="870cf11c5f67087a" providerId="LiveId" clId="{339D5A61-6469-4D78-BDA0-4175D12DC9FE}" dt="2026-03-19T11:48:56.962" v="1" actId="478"/>
        <pc:sldMkLst>
          <pc:docMk/>
          <pc:sldMk cId="0" sldId="256"/>
        </pc:sldMkLst>
        <pc:spChg chg="del mod">
          <ac:chgData name="shekhawatsoumya2@gmail.com" userId="870cf11c5f67087a" providerId="LiveId" clId="{339D5A61-6469-4D78-BDA0-4175D12DC9FE}" dt="2026-03-19T11:48:56.962" v="1" actId="478"/>
          <ac:spMkLst>
            <pc:docMk/>
            <pc:sldMk cId="0" sldId="256"/>
            <ac:spMk id="18" creationId="{00000000-0000-0000-0000-000000000000}"/>
          </ac:spMkLst>
        </pc:spChg>
      </pc:sldChg>
      <pc:sldChg chg="modSp mod">
        <pc:chgData name="shekhawatsoumya2@gmail.com" userId="870cf11c5f67087a" providerId="LiveId" clId="{339D5A61-6469-4D78-BDA0-4175D12DC9FE}" dt="2026-03-19T11:49:12.886" v="12" actId="20577"/>
        <pc:sldMkLst>
          <pc:docMk/>
          <pc:sldMk cId="0" sldId="257"/>
        </pc:sldMkLst>
        <pc:spChg chg="mod">
          <ac:chgData name="shekhawatsoumya2@gmail.com" userId="870cf11c5f67087a" providerId="LiveId" clId="{339D5A61-6469-4D78-BDA0-4175D12DC9FE}" dt="2026-03-19T11:49:12.886" v="1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hekhawatsoumya2@gmail.com" userId="870cf11c5f67087a" providerId="LiveId" clId="{339D5A61-6469-4D78-BDA0-4175D12DC9FE}" dt="2026-03-19T11:50:44.361" v="15" actId="1076"/>
        <pc:sldMkLst>
          <pc:docMk/>
          <pc:sldMk cId="0" sldId="263"/>
        </pc:sldMkLst>
        <pc:spChg chg="mod">
          <ac:chgData name="shekhawatsoumya2@gmail.com" userId="870cf11c5f67087a" providerId="LiveId" clId="{339D5A61-6469-4D78-BDA0-4175D12DC9FE}" dt="2026-03-19T11:50:44.361" v="15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0:44.361" v="15" actId="1076"/>
          <ac:spMkLst>
            <pc:docMk/>
            <pc:sldMk cId="0" sldId="263"/>
            <ac:spMk id="6" creationId="{00000000-0000-0000-0000-000000000000}"/>
          </ac:spMkLst>
        </pc:spChg>
        <pc:graphicFrameChg chg="modGraphic">
          <ac:chgData name="shekhawatsoumya2@gmail.com" userId="870cf11c5f67087a" providerId="LiveId" clId="{339D5A61-6469-4D78-BDA0-4175D12DC9FE}" dt="2026-03-19T11:50:30.455" v="14" actId="2164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delSp modSp mod">
        <pc:chgData name="shekhawatsoumya2@gmail.com" userId="870cf11c5f67087a" providerId="LiveId" clId="{339D5A61-6469-4D78-BDA0-4175D12DC9FE}" dt="2026-03-19T11:51:28.905" v="19" actId="1076"/>
        <pc:sldMkLst>
          <pc:docMk/>
          <pc:sldMk cId="0" sldId="265"/>
        </pc:sldMkLst>
        <pc:spChg chg="del mod">
          <ac:chgData name="shekhawatsoumya2@gmail.com" userId="870cf11c5f67087a" providerId="LiveId" clId="{339D5A61-6469-4D78-BDA0-4175D12DC9FE}" dt="2026-03-19T11:51:13.627" v="18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1:13.627" v="18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1:13.627" v="18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1:13.627" v="18" actId="478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1:28.905" v="19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1:28.905" v="19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1:28.905" v="19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1:28.905" v="19" actId="1076"/>
          <ac:spMkLst>
            <pc:docMk/>
            <pc:sldMk cId="0" sldId="265"/>
            <ac:spMk id="28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1:52:09.155" v="27" actId="20577"/>
        <pc:sldMkLst>
          <pc:docMk/>
          <pc:sldMk cId="0" sldId="266"/>
        </pc:sldMkLst>
        <pc:spChg chg="del">
          <ac:chgData name="shekhawatsoumya2@gmail.com" userId="870cf11c5f67087a" providerId="LiveId" clId="{339D5A61-6469-4D78-BDA0-4175D12DC9FE}" dt="2026-03-19T11:51:40.025" v="20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1:40.025" v="20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1:40.025" v="20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1:40.025" v="20" actId="478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2:00.276" v="23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2:09.155" v="27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2:00.276" v="23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2:00.276" v="23" actId="1076"/>
          <ac:spMkLst>
            <pc:docMk/>
            <pc:sldMk cId="0" sldId="266"/>
            <ac:spMk id="27" creationId="{00000000-0000-0000-0000-000000000000}"/>
          </ac:spMkLst>
        </pc:spChg>
      </pc:sldChg>
      <pc:sldChg chg="modSp mod">
        <pc:chgData name="shekhawatsoumya2@gmail.com" userId="870cf11c5f67087a" providerId="LiveId" clId="{339D5A61-6469-4D78-BDA0-4175D12DC9FE}" dt="2026-03-19T11:52:27.021" v="30" actId="20577"/>
        <pc:sldMkLst>
          <pc:docMk/>
          <pc:sldMk cId="0" sldId="268"/>
        </pc:sldMkLst>
        <pc:spChg chg="mod">
          <ac:chgData name="shekhawatsoumya2@gmail.com" userId="870cf11c5f67087a" providerId="LiveId" clId="{339D5A61-6469-4D78-BDA0-4175D12DC9FE}" dt="2026-03-19T11:52:27.021" v="30" actId="20577"/>
          <ac:spMkLst>
            <pc:docMk/>
            <pc:sldMk cId="0" sldId="268"/>
            <ac:spMk id="20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1:52:51.081" v="31" actId="478"/>
        <pc:sldMkLst>
          <pc:docMk/>
          <pc:sldMk cId="0" sldId="275"/>
        </pc:sldMkLst>
        <pc:spChg chg="del">
          <ac:chgData name="shekhawatsoumya2@gmail.com" userId="870cf11c5f67087a" providerId="LiveId" clId="{339D5A61-6469-4D78-BDA0-4175D12DC9FE}" dt="2026-03-19T11:52:51.081" v="31" actId="478"/>
          <ac:spMkLst>
            <pc:docMk/>
            <pc:sldMk cId="0" sldId="275"/>
            <ac:spMk id="17" creationId="{00000000-0000-0000-0000-000000000000}"/>
          </ac:spMkLst>
        </pc:spChg>
      </pc:sldChg>
      <pc:sldChg chg="modSp mod">
        <pc:chgData name="shekhawatsoumya2@gmail.com" userId="870cf11c5f67087a" providerId="LiveId" clId="{339D5A61-6469-4D78-BDA0-4175D12DC9FE}" dt="2026-03-19T11:53:04.096" v="32" actId="1076"/>
        <pc:sldMkLst>
          <pc:docMk/>
          <pc:sldMk cId="0" sldId="276"/>
        </pc:sldMkLst>
        <pc:picChg chg="mod">
          <ac:chgData name="shekhawatsoumya2@gmail.com" userId="870cf11c5f67087a" providerId="LiveId" clId="{339D5A61-6469-4D78-BDA0-4175D12DC9FE}" dt="2026-03-19T11:53:04.096" v="32" actId="1076"/>
          <ac:picMkLst>
            <pc:docMk/>
            <pc:sldMk cId="0" sldId="276"/>
            <ac:picMk id="4" creationId="{00000000-0000-0000-0000-000000000000}"/>
          </ac:picMkLst>
        </pc:picChg>
      </pc:sldChg>
      <pc:sldChg chg="addSp delSp modSp mod">
        <pc:chgData name="shekhawatsoumya2@gmail.com" userId="870cf11c5f67087a" providerId="LiveId" clId="{339D5A61-6469-4D78-BDA0-4175D12DC9FE}" dt="2026-03-19T11:54:26.810" v="41" actId="14100"/>
        <pc:sldMkLst>
          <pc:docMk/>
          <pc:sldMk cId="0" sldId="278"/>
        </pc:sldMkLst>
        <pc:picChg chg="del">
          <ac:chgData name="shekhawatsoumya2@gmail.com" userId="870cf11c5f67087a" providerId="LiveId" clId="{339D5A61-6469-4D78-BDA0-4175D12DC9FE}" dt="2026-03-19T11:54:10.253" v="36" actId="478"/>
          <ac:picMkLst>
            <pc:docMk/>
            <pc:sldMk cId="0" sldId="278"/>
            <ac:picMk id="4" creationId="{00000000-0000-0000-0000-000000000000}"/>
          </ac:picMkLst>
        </pc:picChg>
        <pc:picChg chg="add mod">
          <ac:chgData name="shekhawatsoumya2@gmail.com" userId="870cf11c5f67087a" providerId="LiveId" clId="{339D5A61-6469-4D78-BDA0-4175D12DC9FE}" dt="2026-03-19T11:54:26.810" v="41" actId="14100"/>
          <ac:picMkLst>
            <pc:docMk/>
            <pc:sldMk cId="0" sldId="278"/>
            <ac:picMk id="16" creationId="{E869A6E0-9347-6AB7-96F5-5D538B6CD670}"/>
          </ac:picMkLst>
        </pc:picChg>
      </pc:sldChg>
      <pc:sldChg chg="delSp modSp mod">
        <pc:chgData name="shekhawatsoumya2@gmail.com" userId="870cf11c5f67087a" providerId="LiveId" clId="{339D5A61-6469-4D78-BDA0-4175D12DC9FE}" dt="2026-03-19T11:55:06.511" v="49" actId="20577"/>
        <pc:sldMkLst>
          <pc:docMk/>
          <pc:sldMk cId="0" sldId="279"/>
        </pc:sldMkLst>
        <pc:spChg chg="mod">
          <ac:chgData name="shekhawatsoumya2@gmail.com" userId="870cf11c5f67087a" providerId="LiveId" clId="{339D5A61-6469-4D78-BDA0-4175D12DC9FE}" dt="2026-03-19T11:55:06.511" v="49" actId="20577"/>
          <ac:spMkLst>
            <pc:docMk/>
            <pc:sldMk cId="0" sldId="279"/>
            <ac:spMk id="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4:57.682" v="45" actId="478"/>
          <ac:spMkLst>
            <pc:docMk/>
            <pc:sldMk cId="0" sldId="279"/>
            <ac:spMk id="29" creationId="{00000000-0000-0000-0000-000000000000}"/>
          </ac:spMkLst>
        </pc:spChg>
        <pc:spChg chg="del mod">
          <ac:chgData name="shekhawatsoumya2@gmail.com" userId="870cf11c5f67087a" providerId="LiveId" clId="{339D5A61-6469-4D78-BDA0-4175D12DC9FE}" dt="2026-03-19T11:54:54.446" v="44" actId="478"/>
          <ac:spMkLst>
            <pc:docMk/>
            <pc:sldMk cId="0" sldId="279"/>
            <ac:spMk id="30" creationId="{00000000-0000-0000-0000-000000000000}"/>
          </ac:spMkLst>
        </pc:spChg>
      </pc:sldChg>
      <pc:sldChg chg="del">
        <pc:chgData name="shekhawatsoumya2@gmail.com" userId="870cf11c5f67087a" providerId="LiveId" clId="{339D5A61-6469-4D78-BDA0-4175D12DC9FE}" dt="2026-03-19T11:55:16.236" v="50" actId="2696"/>
        <pc:sldMkLst>
          <pc:docMk/>
          <pc:sldMk cId="0" sldId="280"/>
        </pc:sldMkLst>
      </pc:sldChg>
      <pc:sldChg chg="delSp modSp mod">
        <pc:chgData name="shekhawatsoumya2@gmail.com" userId="870cf11c5f67087a" providerId="LiveId" clId="{339D5A61-6469-4D78-BDA0-4175D12DC9FE}" dt="2026-03-19T11:55:27.440" v="53" actId="478"/>
        <pc:sldMkLst>
          <pc:docMk/>
          <pc:sldMk cId="0" sldId="283"/>
        </pc:sldMkLst>
        <pc:spChg chg="del">
          <ac:chgData name="shekhawatsoumya2@gmail.com" userId="870cf11c5f67087a" providerId="LiveId" clId="{339D5A61-6469-4D78-BDA0-4175D12DC9FE}" dt="2026-03-19T11:55:23.662" v="51" actId="478"/>
          <ac:spMkLst>
            <pc:docMk/>
            <pc:sldMk cId="0" sldId="283"/>
            <ac:spMk id="15" creationId="{00000000-0000-0000-0000-000000000000}"/>
          </ac:spMkLst>
        </pc:spChg>
        <pc:spChg chg="del mod">
          <ac:chgData name="shekhawatsoumya2@gmail.com" userId="870cf11c5f67087a" providerId="LiveId" clId="{339D5A61-6469-4D78-BDA0-4175D12DC9FE}" dt="2026-03-19T11:55:27.440" v="53" actId="478"/>
          <ac:spMkLst>
            <pc:docMk/>
            <pc:sldMk cId="0" sldId="28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62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Monitoring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Business Intelligence Report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13716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2560320"/>
            <a:ext cx="13716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$166.37B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26680" y="914400"/>
            <a:ext cx="13716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2668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26680" y="2560320"/>
            <a:ext cx="13716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$1.36B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2668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Amount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052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&amp; Domain Overview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252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context, and industry relevance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0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 &amp; Objectives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pain points and analytical goals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59736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96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Dataset &amp; Data Understanding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variables, and relationships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55264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 Cleaning &amp; Transformation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pipeline and feature engineering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50792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87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Tools &amp; Business Questions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and key analytical queries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868680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868680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9052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Exploratory Data Analysis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1252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trends and pattern discovery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664208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1664208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700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Charts &amp; Visualisations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83480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detailed chart deep-dives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459736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459736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496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Dashboard Walkthrough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83480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layout, filters, and interactivity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255264"/>
            <a:ext cx="42062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255264"/>
            <a:ext cx="914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Key Insights, Recommendations &amp; Conclusion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8348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actions, and future scope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96012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systems process billions of transactions globally each day. As adoption accelerates, so does the sophistication of fraudulent activity, demanding robust real-time monitoring capabilities.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1 million simulated mobile payment transactions drawn from a synthetic dataset modelled on real-world PaySim behaviour. Each transaction carries metadata covering amount, account balances, transaction type, and fraud label.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97180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costs the global economy over $4.7 trillion annually (est. 2024). Even a 0.11% fraud rate translates to $1.36 billion in losses — underscoring the critical need for data-driven detection systems.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97764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spans 100 time-steps (representing 744 hours / ~31 days of activity), five transaction categories, and 1,142 confirmed fraudulent events.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  —  Digital Payments &amp; Fraud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651760" cy="1783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8755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Industry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39903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payment volumes exceeded $9.46 trillion in 2023, driven by mobile wallets, NEFT/RTGS, UPI, and international wire transfers. Speed and convenience have also increased fraud exposure.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896112"/>
            <a:ext cx="2651760" cy="178308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98755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Fraud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0128" y="139903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fraud patterns include account takeover, social engineering cash-outs, synthetic identity attacks, and authorised-push-payment (APP) fraud — often targeting TRANSFER and CASH_OUT channels.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896112"/>
            <a:ext cx="2651760" cy="1783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98755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in Fraud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44768" y="139903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(%), Fraud Detection Rate, False Positive Rate, Average Fraud Amount, and Time-to-Detection are the primary KPIs used to measure system performance.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2651760" cy="178308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5351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36499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PCI-DSS, RBI Payment Guidelines (India), and FATF recommendations mandate robust AML and fraud monitoring for all payment service providers, with heavy penalties for non-compliance.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862072"/>
            <a:ext cx="2651760" cy="1783080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95351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Approaches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36499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engines, ML classifiers (Gradient Boost, Neural Nets), and real-time anomaly detection using streaming platforms like Apache Kafka or Azure Event Hubs.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862072"/>
            <a:ext cx="2651760" cy="17830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95351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Vectors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336499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 and TRANSFER are flagged globally as highest-risk transaction types due to immediate fund movement and difficulty of reversal once processed.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 low overall fraud rate of 0.11%, digital payment fraud causes catastrophic financial damage — $1.36 billion lost across just 1,142 transactions. Traditional rule-based systems fail to catch emerging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0.11% fraud rate masks average loss of ~$1.19M per fraudulent transaction — far exceeding any processing fee.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Attack Vectors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22860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fraud is confined to CASH_OUT and TRANSFER. Other channel types are fraud-free, yet receive equal monitoring resources.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19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Temporal Patterns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spikes at unpredictable steps (10, 35, 65) with no direct correlation to overall transaction volume peaks.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416052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319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escalation mechanism exists for high-value outbound transactions that drain source balances to zero — a key fraud signature.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97480" cy="3977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97480" cy="3502152"/>
          </a:xfrm>
          <a:prstGeom prst="rect">
            <a:avLst/>
          </a:prstGeom>
          <a:solidFill>
            <a:srgbClr val="F4F6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the transaction types and time windows most vulnerable to fraud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Quantify financial exposure and average fraud transaction value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312724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Provide actionable intelligence to reduce fraud losses by ≥ 30%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95020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real-time alerting design for high-risk CASH_OUT / TRANSFER events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697480" cy="39776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914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Goal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54680" y="1389888"/>
            <a:ext cx="2697480" cy="3502152"/>
          </a:xfrm>
          <a:prstGeom prst="rect">
            <a:avLst/>
          </a:prstGeom>
          <a:solidFill>
            <a:srgbClr val="F4F6F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 full EDA on 1 million transaction records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3042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statistical patterns distinguishing fraud from legitimate activity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312724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interactive Power BI dashboards for stakeholder self-service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395020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Establish a repeatable data pipeline for ongoing fraud monitoring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914400"/>
            <a:ext cx="2697480" cy="397764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914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89320" y="1389888"/>
            <a:ext cx="2697480" cy="3502152"/>
          </a:xfrm>
          <a:prstGeom prst="rect">
            <a:avLst/>
          </a:prstGeom>
          <a:solidFill>
            <a:srgbClr val="F4F6FB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fraud concentration report with type-level and time-step-level breakdowns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23042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Documented risk thresholds for CASH_OUT and TRANSFER transactions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0760" y="312724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Stakeholder-ready dashboard with drill-through filters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80760" y="395020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Recommendation deck for enhanced verification protocols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50292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14400"/>
            <a:ext cx="128016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9144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66560" y="914400"/>
            <a:ext cx="20116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950976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PaySim Dataset (Kaggle) — modelled on real mobile money transaction logs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591056"/>
            <a:ext cx="128016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5910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1591056"/>
            <a:ext cx="20116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27632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rows × 11 columns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2267712"/>
            <a:ext cx="128016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2677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66560" y="2267712"/>
            <a:ext cx="20116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2304288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time steps (~31 days of simulated activity)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0" y="2944368"/>
            <a:ext cx="128016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29443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66560" y="2944368"/>
            <a:ext cx="20116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298094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type, amount, nameOrig, oldbalanceOrg, newbalanceOrig, nameDest, oldbalanceDest, newbalanceDest, isFraud, isFlaggedFraud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0" y="3621024"/>
            <a:ext cx="128016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36210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66560" y="3621024"/>
            <a:ext cx="20116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0" y="365760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 (binary: 0 = legitimate, 1 = fraudulent)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0" y="4297680"/>
            <a:ext cx="128016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4297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766560" y="4297680"/>
            <a:ext cx="20116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0" y="4334256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imported into Excel &amp; Power BI for analysis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20040" y="4480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PaySim Synthetic Dataset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  —  Statistical Snapshot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540097"/>
              </p:ext>
            </p:extLst>
          </p:nvPr>
        </p:nvGraphicFramePr>
        <p:xfrm>
          <a:off x="320040" y="868680"/>
          <a:ext cx="8138160" cy="1143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 ($)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oldbalanceOrg ($)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newbalanceOrig ($)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isFraud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Mean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179,861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833,883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855,113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0.0011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Max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92,445,516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59,585,040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49,585,040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257175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Observations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0040" y="298323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right-skewed distribution — median amount ($74.9K) is far below mean ($179.9K), indicating a small number of very large transactions.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accounts have newbalanceOrig = 0 after transaction — a key fraud indicator (complete balance drain).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 mean of 0.0011 (0.11%) confirms extreme class imbalance, requiring careful model treatment.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single transaction: $92.4M — consistent with high-value wire transfer fraud patterns.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 —  Column-Level Explanation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" y="11521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[Integer]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57400" y="868680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unit (1 step = 1 hour). Range: 1–743. Represents the simulation timeline.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17904"/>
            <a:ext cx="420624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63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847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[Categorical]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57400" y="1563624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type: CASH_IN, CASH_OUT, DEBIT, PAYMENT, TRANSFER. Only CASH_OUT and TRANSFER carry fraud.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420624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58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[Float]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57400" y="2258568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in local currency. Range: $0 – $92.4M. High amounts are a fraud risk signal.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420624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953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" y="32369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[String]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57400" y="2953512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initiating the transaction. Used to detect repeat offenders or account takeover patterns.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602736"/>
            <a:ext cx="420624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648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oldbalanceOrg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" y="39319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[Float]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57400" y="3648456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account balance before the transaction. Zero balance post-transaction = fraud marker.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297680"/>
            <a:ext cx="420624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newbalanceOrig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" y="46268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[Float]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057400" y="4343400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account balance after the transaction. A sudden drop to zero is highly suspicious.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822960"/>
            <a:ext cx="420624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11521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[String]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92240" y="868680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account ID. M-prefix = merchant; C-prefix = individual customer account.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517904"/>
            <a:ext cx="420624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563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oldbalanceDest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1847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[Float]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1563624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balance before transaction. Fraudulent destinations often start near zero.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212848"/>
            <a:ext cx="420624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258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newbalanceDest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8032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[Float]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2258568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balance after transaction. Fraud recipients show large jumps despite starting at zero.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907792"/>
            <a:ext cx="420624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953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32369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[Binary (Target)]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92240" y="2953512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label. 1 = Fraudulent, 0 = Legitimate. Only 1,142 of 1M records are flagged.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602736"/>
            <a:ext cx="420624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648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28032" y="39319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[Binary]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92240" y="3648456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System-flagged transactions. Very few flagged — shows existing detection misses most actual fraud.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—  Why It Was Needed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financial datasets rarely arrive analysis-ready. Before any visualisation or modelling, a systematic cleaning pipeline ensures data integrity, consistency, and reliability.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54480"/>
            <a:ext cx="91440" cy="10058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(0.11%)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75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skew between fraud (1,142) and legitimate (998,858) transactions requires careful handling to avoid biased analysis.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914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Zero-Value Balances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75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newbalanceDest = 0 for transactions where the destination is a merchant (M-prefix accounts) — not fraud, but requires classification.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6974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697480"/>
            <a:ext cx="91440" cy="100584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770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Flag Column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118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captures only 16 of 1,142 fraud cases — a 98.6% miss rate, making it unreliable as a standalone fraud detector.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40480"/>
            <a:ext cx="914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Identifiers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261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 and nameDest are alphanumeric IDs (not usable directly in models) — anonymised in dataset, so no PII risk but need encoding.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6974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697480"/>
            <a:ext cx="91440" cy="100584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770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118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columns verified for correct float/int types; step column confirmed as integer time-series; no mixed-type columns found.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—  Step-by-Step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9326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—  Missing Value Check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80744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values found across all 11 columns (1,000,000 rows × 11 cols = 0 missing). Dataset confirmed complete and simulation-generated.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06240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326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—  Duplicate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20624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80744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transaction IDs — none found. Each row represents a unique transaction event in the simulation.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420624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32257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—  Data Type Correction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15768"/>
            <a:ext cx="420624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770632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→ Int32 | amount, balance columns → Float64 | type, nameOrig, nameDest → String | isFraud, isFlaggedFraud → Int8 (binary).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48456"/>
            <a:ext cx="4206240" cy="457200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712464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—  Balance Inconsistency Flags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05656"/>
            <a:ext cx="420624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160520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derived flag: errorBalanceOrig = newbalanceOrig + amount − oldbalanceOrg ≠ 0 (balance mismatch), a known fraud signal.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58568"/>
            <a:ext cx="4206240" cy="45720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32257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—  Category Validation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715768"/>
            <a:ext cx="420624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770632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column validated to contain exactly 5 values: CASH_IN, CASH_OUT, DEBIT, PAYMENT, TRANSFER. No typos or inconsistent casing found.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 &amp; 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enrich the dataset and enable deeper analytical insight, the following calculated columns and aggregations were created: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832104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Derived Field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Formula / Logic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Business Purpose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FraudFlag_Label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IF(isFraud=1, "Fraud", "Legitimate")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Human-readable fraud category for chart labelling and slicers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BalanceDelta_Origin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newbalanceOrig − oldbalanceOrg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Measures fund outflow from originating account; strongly negative = suspicious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BalanceDelta_Dest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newbalanceDest − oldbalanceDest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Measures fund inflow to destination; large sudden increases correlate with fraud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Step_Group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SWITCH(step&lt;25,"Early",step&lt;50,"Mid",step&lt;75,"Late","End")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Bins time steps into 4 periods for trend analysis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Transaction_Tier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IF(amount&lt;10K,"Small",IF(amount&lt;100K,"Mid",IF(amount&lt;1M,"Large","Very Large")))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Categorises transactions by size for risk profiling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IsHighRisk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IF(type IN (CASH_OUT,TRANSFER) AND amount&gt;50000,1,0)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Flags transactions with elevated fraud probability for priority review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Fraud_Amount_Agg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SUM(amount) WHERE isFraud=1 GROUP BY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Total financial exposure per transaction type — key stakeholder 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713232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2021 / 365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914400"/>
            <a:ext cx="6492240" cy="71323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98755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ingestion, statistical summary, pivot tables, and preliminary charting of transaction distribution and fraud rates.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201168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Release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737360"/>
            <a:ext cx="6492240" cy="71323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8105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dashboarding and visualisation platform. Used for interactive KPI cards, drill-through reports, DAX calculated measures, and time-step trend charts.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2011680" cy="71323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29626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Native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2560320"/>
            <a:ext cx="6492240" cy="71323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63347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CALCULATE(), FILTER(), SUMX(), COUNTROWS() and custom measures for fraud rate, average fraud amount, and step-level aggregations.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2011680" cy="713232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37856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Native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31720" y="3383280"/>
            <a:ext cx="6492240" cy="71323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45643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pipeline: data type correction, column renaming, conditional column creation, and merging of aggregated summary tables.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2011680" cy="7132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51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Data Source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6085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Kaggle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31720" y="4206240"/>
            <a:ext cx="6492240" cy="71323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27939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input in CSV format (1M rows). Loaded directly into Power BI via Text/CSV connector with optimised column type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 —  The Analytical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4864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9784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transaction type carries the highest fraud risk, and what proportion of total volume does it represent?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548640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144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57800" y="914400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7528" y="9784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monetary value of a fraudulent transaction compared to a legitimate one? How does this affect exposure?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38528"/>
            <a:ext cx="548640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93852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1938528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00253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which time steps does fraud concentration peak, and is there a discernible temporal pattern in fraudulent activity?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938528"/>
            <a:ext cx="548640" cy="86868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3852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57800" y="1938528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200253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correlation between source/destination balance movements and the likelihood of fraud being committed?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962656"/>
            <a:ext cx="548640" cy="8686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96265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2962656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0266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is the existing isFlaggedFraud mechanism at detecting actual fraud, and what is its false-negative rate?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962656"/>
            <a:ext cx="548640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6265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2962656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30266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total financial volume is at risk in CASH_OUT and TRANSFER channels specifically?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986784"/>
            <a:ext cx="548640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98678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" y="3986784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405079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total transaction volumes and fraudulent transaction volumes move in tandem, or are they independent of each other?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986784"/>
            <a:ext cx="54864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8678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57800" y="3986784"/>
            <a:ext cx="384048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2C4F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67528" y="405079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rule-based thresholds (e.g., amount, type, balance delta) best separate fraud from legitimate transactions?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—  Initial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91440" cy="12070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 (374K) and PAYMENT (354K) dominate by count. However, by value, CASH_OUT ($69B) and TRANSFER ($55B) account for 74.2% of total volume — and 100% of fraud.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91440" cy="1207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Frequency vs. Volume Mismatch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PAYMENT is the 2nd highest in transaction count, it registers ZERO fraud. Fraud is exclusively a CASH_OUT / TRANSFER phenomenon.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91440" cy="1207008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9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Irregularity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transactions follow two clear wave cycles (peaks at Steps ~20 and ~45), then drop to near zero after Step 55. Fraudulent transactions, however, persist even when legitimate volume crashes.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286000"/>
            <a:ext cx="91440" cy="12070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9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Fraud Amount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fraud transaction = $1.36B ÷ 1,142 = ~$1.19M per incident. This is ~6.6x the overall average transaction value of $179K.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20624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91440" cy="1207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30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Drain Pattern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TRANSFER transactions show a near-perfect pattern: oldbalanceOrg &gt; 0 AND newbalanceOrig = 0, indicating complete account drain — detectable with a simple rule.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657600"/>
            <a:ext cx="91440" cy="1207008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30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Flag Failure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= 1 for only 16 of 1,142 fraud cases (1.4% detection rate). The current system misses 98.6% of actual fraud — a critical gap.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 —  Bar Chart: Total Transactions by Type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557784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777240"/>
            <a:ext cx="27432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4768" y="841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72200" y="13258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CASH_OUT leads with 374K transactions — the highest frequency category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72200" y="17830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 follows closely at 354K, suggesting widespread merchant usage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72200" y="22402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CASH_IN (227K) represents fund deposits into the system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26974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 (87K) is 4th in count but the 2nd most fraud-prone category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31546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DEBIT (7K) is the smallest category with negligible fraud risk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2200" y="36118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 top 2 types (CASH_OUT + PAYMENT) account for 72.8% of all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72200" y="40690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Despite lower count, TRANSFER carries disproportionately high fraud risk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 —  Bar Chart: Total Transaction Amount by Type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557784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777240"/>
            <a:ext cx="2743200" cy="40416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4768" y="841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72200" y="13258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CASH_OUT: $69B — largest financial exposure in the system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72200" y="17830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TRANSFER: $55B — 2nd largest, exclusively fraud-prone channel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72200" y="22402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CASH_IN: $39B — inbound deposits, zero fraud recorded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26974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PAYMENT: $4B — despite 354K transactions, very small average ticket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31546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DEBIT: ~$0B — negligible monetary footprint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2200" y="36118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CASH_OUT + TRANSFER = $124B (74.5% of total $166.37B volume)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72200" y="40690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These two channels represent the core fraud financial risk surface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 —  Bar Chart: Fraudulent Transactions by Type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557784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777240"/>
            <a:ext cx="2743200" cy="40416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4768" y="841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72200" y="132588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CASH_OUT: 578 frauds — 50.6% of all fraud cases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72200" y="176479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TRANSFER: 564 frauds — 49.4% of all fraud cases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72200" y="220370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PAYMENT: 0 fraud — despite 354K transactions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264261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CASH_IN: 0 fraud — no fraud on inbound flows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30815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DEBIT: 0 fraud — negligible and clean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2200" y="352044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Fraud is 100% concentrated in outbound channels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72200" y="395935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Fraud rate in CASH_OUT: 578÷374K = 0.155%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2200" y="439826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Fraud rate in TRANSFER: 564÷87K = 0.648% — 6x higher!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 —  Pie Chart: Fraud vs. Non-Fraud Transactions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557784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777240"/>
            <a:ext cx="27432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4768" y="841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2578608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4447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998,858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72200" y="19202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(99.89%)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2560320"/>
            <a:ext cx="2578608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6334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72200" y="31089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(0.11%)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72200" y="36576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Extreme class imbalance — 1:875 fraud-to-legitimate ratio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72200" y="39319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Accuracy alone is misleading: predicting all-0 gives 99.89% accuracy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72200" y="4206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Precision-Recall trade-off is the correct evaluation metric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4480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Under-sampling or SMOTE needed for ML approaches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 —  Line Chart: Total Transactions Over Time (by Step)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85039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370832"/>
            <a:ext cx="201168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~20: 51K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68880" y="4370832"/>
            <a:ext cx="2011680" cy="59436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468880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~45: 45K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4370832"/>
            <a:ext cx="201168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17720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55: ~0K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66560" y="4370832"/>
            <a:ext cx="2011680" cy="594360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0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90: 10K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  —  Line Chart: Fraudulent Transactions Over Time (Trend Analysis)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96112"/>
            <a:ext cx="85039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437083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Unlike legitimate transactions which collapse after Step 55, fraud activity PERSISTS. The step-65 peak of 24 fraudulent transactions occurs during a near-zero legitimate volume period — indicating targeted, opportunistic attacks.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fraud spikes: Step ~10 (16), Step ~25 (23), Step ~50 (21), Step ~65 (24 — maximum), Step ~80 (22). No step is fraud-free after Step 1.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  —  Comparative Analysis: Volume vs. Fraud by Channel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412480" cy="274320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CASH_OUT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PAYMENT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CASH_IN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DEBIT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Transaction 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374,000 (37.4%)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87,000 (8.7%)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354,000 (35.4%)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227,000 (22.7%)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7,000 (0.7%)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Total Volume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$69B (41.5%)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$55B (33.1%)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$4B (2.4%)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$39B (23.5%)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~$0B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Fraud Transactions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578 (50.6%)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564 (49.4%)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 (0%)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 (0%)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 (0%)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Fraud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0.155%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0.648%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0.000%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0.000%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0.000%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Avg Fraud Amount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~$1.18M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~$1.20M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Risk Level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37033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Insights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has the highest fraud rate (0.648%) — 5.9x higher than CASH_OUT — despite having fewer transactions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handles 354K transactions and $4B in volume with zero fraud — demonstrating the value of merchant-directed flows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CASH_OUT and TRANSFER bear 100% of financial fraud risk while representing 74.5% of total volume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 —  Layout &amp; Design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806440" y="804672"/>
            <a:ext cx="301752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87782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97880" y="1335024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Row: 5 KPI cards (Total Transactions, Fraud Amount, Fraud Rate, Total Volume, Fraudulent Transactions)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97880" y="175564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Centre-Left: Bar chart — Total Transaction by Type (count breakdown)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97880" y="217627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Centre-Middle: Line chart — Fraudulent Transactions by Step (time series)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97880" y="2596896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Centre-Right: Bar chart — Fraudulent Transactions by Type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97880" y="3017520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Bottom-Left: Donut — Fraud vs. Non-Fraud ratio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3438144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Bottom-Centre: Bar — Total Amount by Type ($B)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97880" y="385876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Bottom-Right: Area — Total Transactions by Step (volume trend)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42793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Legend panel: Transaction type filter checkboxes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69A6E0-9347-6AB7-96F5-5D538B6CD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04672"/>
            <a:ext cx="527048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—  KPI Cards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65176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2651760" cy="129844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665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COUNTROWS(Transactions)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896112"/>
            <a:ext cx="265176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961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399032"/>
            <a:ext cx="2651760" cy="129844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4447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$166.37B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20665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SUM(amount)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896112"/>
            <a:ext cx="265176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8961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399032"/>
            <a:ext cx="2651760" cy="129844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4447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80760" y="20665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DIVIDE([FraudCount],[TotalCount])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816352"/>
            <a:ext cx="2651760" cy="50292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Amount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19272"/>
            <a:ext cx="2651760" cy="129844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64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$1.36B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3986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SUMX(FILTER(Txn,isFraud=1),amount)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2816352"/>
            <a:ext cx="2651760" cy="502920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Txns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3319272"/>
            <a:ext cx="2651760" cy="129844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364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2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3986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COUNTROWS(FILTER(Txn,isFraud=1))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—  Top Findings from the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95097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exclusively concentrated in CASH_OUT and TRANSFER — two outbound channels represent 100% of $1.36B in losses despite covering only ~46% of transactions.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475488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527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has a fraud rate of 0.648% — nearly 6x higher than CASH_OUT's 0.155%, making it the highest per-transaction fraud risk category.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56032" y="2084832"/>
            <a:ext cx="475488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21031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fraud incident value = ~$1.19M, which is 6.6x the overall average transaction of $179K — high-value outlier detection is essential.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56032" y="2660904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2679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persists across ALL 100 time steps and does NOT correlate with legitimate transaction volume — fraud operates independently of market activity rhythms.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56032" y="3236976"/>
            <a:ext cx="475488" cy="47548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2552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isFlaggedFraud system detects only 16 of 1,142 fraudulent transactions (1.4%) — a critical system failure requiring immediate replacement.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56032" y="3813048"/>
            <a:ext cx="475488" cy="47548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38313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drain to zero (newbalanceOrig = 0) is a near-perfect discriminator for TRANSFER fraud — a simple rule could flag the majority of cases.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56032" y="4389120"/>
            <a:ext cx="475488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" y="44074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single fraud event exceeds $92M. PAYMENT, CASH_IN, and DEBIT channels maintain perfect fraud-free records, confirming targeted attack patterns.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—  Data-Driven Action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261872"/>
          </a:xfrm>
          <a:prstGeom prst="rect">
            <a:avLst/>
          </a:prstGeom>
          <a:solidFill>
            <a:srgbClr val="E8F0F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100584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9768" y="12710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Balance-Drain Alerting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63677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CASH_OUT or TRANSFER where newbalanceOrig becomes 0 for accounts with oldbalanceOrg &gt; $10,000. Route to manual review queue immediately.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06240" cy="1261872"/>
          </a:xfrm>
          <a:prstGeom prst="rect">
            <a:avLst/>
          </a:prstGeom>
          <a:solidFill>
            <a:srgbClr val="E8F0FE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68680"/>
            <a:ext cx="1005840" cy="3657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68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64608" y="12710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isFlaggedFraud Rule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64608" y="163677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flags only 1.4% of actual fraud. Replace with an ML-based anomaly detection model (e.g., Gradient Boosting or Isolation Forest) trained on confirmed fraud cases.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206240" cy="1261872"/>
          </a:xfrm>
          <a:prstGeom prst="rect">
            <a:avLst/>
          </a:prstGeom>
          <a:solidFill>
            <a:srgbClr val="E8F0FE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286000"/>
            <a:ext cx="1005840" cy="3657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26883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Channel Enhanced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9768" y="305409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2-factor authentication for all TRANSFER transactions exceeding $50,000, given the 0.648% fraud rate (6x higher than CASH_OUT).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261872"/>
          </a:xfrm>
          <a:prstGeom prst="rect">
            <a:avLst/>
          </a:prstGeom>
          <a:solidFill>
            <a:srgbClr val="E8F0FE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286000"/>
            <a:ext cx="100584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64608" y="26883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Time-Step Surge Monitoring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64608" y="305409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automated alerts at Steps 10, 25, 50, 65, and 80 (historical fraud peaks). Scale fraud analyst capacity during these windows.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703320"/>
            <a:ext cx="4206240" cy="1261872"/>
          </a:xfrm>
          <a:prstGeom prst="rect">
            <a:avLst/>
          </a:prstGeom>
          <a:solidFill>
            <a:srgbClr val="E8F0FE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03320"/>
            <a:ext cx="100584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03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9768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Tier Risk Scoring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9768" y="447141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risk scores by amount tier. Transactions &gt; $1M in CASH_OUT/TRANSFER should require senior analyst sign-off before processing.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206240" cy="1261872"/>
          </a:xfrm>
          <a:prstGeom prst="rect">
            <a:avLst/>
          </a:prstGeom>
          <a:solidFill>
            <a:srgbClr val="E8F0FE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703320"/>
            <a:ext cx="1005840" cy="365760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03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64608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Dashboard to Real-Time Feed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64608" y="447141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dashboard to live transaction stream via Azure Event Hub. Refresh interval: 5 minutes. Enable automated stakeholder alerts for KPI threshold breaches.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&amp;  Final Thoughts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of 1 million digital payment transactions reveals that financial fraud is a concentrated, high-value threat — not a random or widespread phenomenon.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92608" y="1847088"/>
            <a:ext cx="256032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7393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0.11% fraud rate appears minimal, the $1.36 billion financial impact proves that low-frequency, high-severity fraud demands dedicated detection infrastructure.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2395728"/>
            <a:ext cx="256032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2257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concentration of fraud in CASH_OUT and TRANSFER channels enables highly targeted rule-based interventions that could dramatically reduce losses with minimal false positives.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2944368"/>
            <a:ext cx="256032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7121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of the existing isFlaggedFraud system (1.4% detection rate) is a critical finding that demands immediate remediation — whether through enhanced rules or machine learning.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3493008"/>
            <a:ext cx="256032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1985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unpredictability of fraud — which persists even when legitimate volumes crash — means monitoring systems cannot rely on volume-based triggers alone.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4041648"/>
            <a:ext cx="256032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6849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built through this project provides stakeholders with a self-service analytical platform to continuously monitor and respond to fraud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Opportunities for Further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42062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89611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Fraud Detection Model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206240" cy="859536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16736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supervised ML classifier (Gradient Boosting, XGBoost, or Neural Network) on the labelled dataset using features such as amount, balance delta, type, and step-of-day to automate fraud flagging with &gt;90% recall.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06240" cy="42062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89611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Analytics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206240" cy="859536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16736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fraud detection pipeline with Apache Kafka or Azure Stream Analytics to enable sub-second fraud alerts on live transactions, replacing the current batch-based Power BI refresh model.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420624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2860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4206240" cy="859536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706624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database (Neo4j) of transaction flows between nameOrig and nameDest accounts to identify fraud rings, money mule networks, and circular transfer patterns invisible in tabular analysis.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31136"/>
            <a:ext cx="4206240" cy="420624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2860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Dashboard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206240" cy="859536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706624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SHAP (SHapley Additive exPlanations) visualisations within Power BI Embedded to provide compliance officers with interpretable, model-driven fraud decision support.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4206240" cy="420624"/>
          </a:xfrm>
          <a:prstGeom prst="rect">
            <a:avLst/>
          </a:prstGeom>
          <a:solidFill>
            <a:srgbClr val="6E2F9A"/>
          </a:solidFill>
          <a:ln w="12700">
            <a:solidFill>
              <a:srgbClr val="6E2F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67588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Benchmarking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041648"/>
            <a:ext cx="4206240" cy="859536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09651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real-world public datasets (IEEE-CIS Fraud, Credit Card Kaggle) to validate whether CASH_OUT/TRANSFER fraud patterns hold across different payment ecosystems and geographies.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621024"/>
            <a:ext cx="4206240" cy="420624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67588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 &amp; Alerting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4041648"/>
            <a:ext cx="4206240" cy="859536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409651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automated daily/weekly Power BI reports delivered via email to risk managers, with threshold-based alerts (e.g., fraud rate &gt; 0.2%) triggering escalation workflows in Microsoft Teams or Slack.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3917</Words>
  <Application>Microsoft Office PowerPoint</Application>
  <PresentationFormat>On-screen Show (16:9)</PresentationFormat>
  <Paragraphs>448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Payments Fraud Monitoring Analysis</dc:title>
  <dc:subject>PptxGenJS Presentation</dc:subject>
  <dc:creator>Senior Data Analyst</dc:creator>
  <cp:lastModifiedBy>shekhawatsoumya2@gmail.com</cp:lastModifiedBy>
  <cp:revision>1</cp:revision>
  <dcterms:created xsi:type="dcterms:W3CDTF">2026-03-18T09:33:06Z</dcterms:created>
  <dcterms:modified xsi:type="dcterms:W3CDTF">2026-03-19T11:55:31Z</dcterms:modified>
</cp:coreProperties>
</file>